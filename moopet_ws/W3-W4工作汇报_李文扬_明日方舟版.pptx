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0"/>
            <a:ext cx="3962095" cy="402336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0" y="0"/>
            <a:ext cx="2499055" cy="246888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82296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280">
                <a:solidFill>
                  <a:srgbClr val="8B9196"/>
                </a:solidFill>
                <a:latin typeface="Consolas"/>
                <a:ea typeface="Consolas"/>
              </a:rPr>
              <a:t>OPERATION REPORT  //  W3 + W4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417320"/>
            <a:ext cx="7040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spc="12">
                <a:solidFill>
                  <a:srgbClr val="F7F7F4"/>
                </a:solidFill>
                <a:latin typeface="Noto Serif SC Black"/>
                <a:ea typeface="Noto Serif SC Black"/>
              </a:rPr>
              <a:t>养成系机械狗 · 决策引擎完稿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74320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spc="20">
                <a:solidFill>
                  <a:srgbClr val="FF5E19"/>
                </a:solidFill>
                <a:latin typeface="Noto Serif SC"/>
                <a:ea typeface="Noto Serif SC"/>
              </a:rPr>
              <a:t>从「会答题」到「懂感情」——两周，让狗会主动开口。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3520440"/>
            <a:ext cx="2194560" cy="0"/>
          </a:xfrm>
          <a:prstGeom prst="line">
            <a:avLst/>
          </a:prstGeom>
          <a:ln w="12700">
            <a:solidFill>
              <a:srgbClr val="353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7280" y="3749039"/>
            <a:ext cx="7040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7F7F4"/>
                </a:solidFill>
                <a:latin typeface="Noto Sans SC"/>
                <a:ea typeface="Noto Sans SC"/>
              </a:rPr>
              <a:t>汇报人：李文扬   /   架构 · 集成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长夜月 · 蓝思杯赛道一：灵伴管家（智能体应用）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196"/>
                </a:solidFill>
                <a:latin typeface="Noto Sans SC"/>
                <a:ea typeface="Noto Sans SC"/>
              </a:rPr>
              <a:t>对齐排期 W3+W4 · 上周 W3 因故未汇报，本周合并汇报</a:t>
            </a:r>
          </a:p>
        </p:txBody>
      </p:sp>
      <p:sp>
        <p:nvSpPr>
          <p:cNvPr id="23" name="Oval 22"/>
          <p:cNvSpPr/>
          <p:nvPr/>
        </p:nvSpPr>
        <p:spPr>
          <a:xfrm>
            <a:off x="8732520" y="1417319"/>
            <a:ext cx="1828800" cy="1828800"/>
          </a:xfrm>
          <a:prstGeom prst="ellipse">
            <a:avLst/>
          </a:prstGeom>
          <a:solidFill>
            <a:srgbClr val="17191B"/>
          </a:solidFill>
          <a:ln w="3175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1709927"/>
            <a:ext cx="18288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>
                <a:solidFill>
                  <a:srgbClr val="F7F7F4"/>
                </a:solidFill>
                <a:latin typeface="Consolas"/>
                <a:ea typeface="Consolas"/>
              </a:rPr>
              <a:t>47/47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404872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spc="30">
                <a:solidFill>
                  <a:srgbClr val="8B9196"/>
                </a:solidFill>
                <a:latin typeface="Noto Serif SC"/>
                <a:ea typeface="Noto Serif SC"/>
              </a:rPr>
              <a:t>单测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3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40">
                <a:solidFill>
                  <a:srgbClr val="F7F7F4"/>
                </a:solidFill>
                <a:latin typeface="Noto Serif SC"/>
                <a:ea typeface="Noto Serif SC"/>
              </a:rPr>
              <a:t>本地全绿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349240"/>
            <a:ext cx="3931920" cy="109728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5349240"/>
            <a:ext cx="1188720" cy="109728"/>
          </a:xfrm>
          <a:prstGeom prst="rect">
            <a:avLst/>
          </a:prstGeom>
          <a:solidFill>
            <a:srgbClr val="05A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5349240"/>
            <a:ext cx="914400" cy="109728"/>
          </a:xfrm>
          <a:prstGeom prst="rect">
            <a:avLst/>
          </a:prstGeom>
          <a:solidFill>
            <a:srgbClr val="FFD8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71500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CODE  W4/MOOPET_WS  ·  W1-W3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结论先行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一句话：决策引擎完稿，狗会主动开口。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645920" y="2103120"/>
            <a:ext cx="2194560" cy="2194560"/>
          </a:xfrm>
          <a:prstGeom prst="ellipse">
            <a:avLst/>
          </a:prstGeom>
          <a:solidFill>
            <a:srgbClr val="17191B"/>
          </a:solidFill>
          <a:ln w="3175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2454249"/>
            <a:ext cx="2194560" cy="9217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500" b="1">
                <a:solidFill>
                  <a:srgbClr val="F7F7F4"/>
                </a:solidFill>
                <a:latin typeface="Consolas"/>
                <a:ea typeface="Consolas"/>
              </a:rPr>
              <a:t>5/5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288182"/>
            <a:ext cx="2194560" cy="4828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spc="30">
                <a:solidFill>
                  <a:srgbClr val="8B9196"/>
                </a:solidFill>
                <a:latin typeface="Noto Serif SC"/>
                <a:ea typeface="Noto Serif SC"/>
              </a:rPr>
              <a:t>排期任务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40">
                <a:solidFill>
                  <a:srgbClr val="F7F7F4"/>
                </a:solidFill>
                <a:latin typeface="Noto Serif SC"/>
                <a:ea typeface="Noto Serif SC"/>
              </a:rPr>
              <a:t>两周无延期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2103120"/>
            <a:ext cx="2194560" cy="2194560"/>
          </a:xfrm>
          <a:prstGeom prst="ellipse">
            <a:avLst/>
          </a:prstGeom>
          <a:solidFill>
            <a:srgbClr val="17191B"/>
          </a:solidFill>
          <a:ln w="31750">
            <a:solidFill>
              <a:srgbClr val="05A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454249"/>
            <a:ext cx="2194560" cy="9217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500" b="1">
                <a:solidFill>
                  <a:srgbClr val="F7F7F4"/>
                </a:solidFill>
                <a:latin typeface="Consolas"/>
                <a:ea typeface="Consolas"/>
              </a:rPr>
              <a:t>47/47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288182"/>
            <a:ext cx="2194560" cy="4828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spc="30">
                <a:solidFill>
                  <a:srgbClr val="8B9196"/>
                </a:solidFill>
                <a:latin typeface="Noto Serif SC"/>
                <a:ea typeface="Noto Serif SC"/>
              </a:rPr>
              <a:t>单测通过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40">
                <a:solidFill>
                  <a:srgbClr val="F7F7F4"/>
                </a:solidFill>
                <a:latin typeface="Noto Serif SC"/>
                <a:ea typeface="Noto Serif SC"/>
              </a:rPr>
              <a:t>本地可复现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0" y="2103120"/>
            <a:ext cx="2194560" cy="2194560"/>
          </a:xfrm>
          <a:prstGeom prst="ellipse">
            <a:avLst/>
          </a:prstGeom>
          <a:solidFill>
            <a:srgbClr val="17191B"/>
          </a:solidFill>
          <a:ln w="31750">
            <a:solidFill>
              <a:srgbClr val="FFD8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454249"/>
            <a:ext cx="2194560" cy="9217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500" b="1">
                <a:solidFill>
                  <a:srgbClr val="F7F7F4"/>
                </a:solidFill>
                <a:latin typeface="Consolas"/>
                <a:ea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288182"/>
            <a:ext cx="2194560" cy="4828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spc="30">
                <a:solidFill>
                  <a:srgbClr val="8B9196"/>
                </a:solidFill>
                <a:latin typeface="Noto Serif SC"/>
                <a:ea typeface="Noto Serif SC"/>
              </a:rPr>
              <a:t>新增接口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40">
                <a:solidFill>
                  <a:srgbClr val="F7F7F4"/>
                </a:solidFill>
                <a:latin typeface="Noto Serif SC"/>
                <a:ea typeface="Noto Serif SC"/>
              </a:rPr>
              <a:t>全部复用 W1</a:t>
            </a:r>
          </a:p>
        </p:txBody>
      </p:sp>
      <p:sp>
        <p:nvSpPr>
          <p:cNvPr id="34" name="Snip Single Corner Rectangle 33"/>
          <p:cNvSpPr/>
          <p:nvPr/>
        </p:nvSpPr>
        <p:spPr>
          <a:xfrm>
            <a:off x="548640" y="5074920"/>
            <a:ext cx="11064240" cy="10058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074920"/>
            <a:ext cx="82296" cy="100584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7F7F4"/>
                </a:solidFill>
                <a:latin typeface="Noto Sans SC"/>
                <a:ea typeface="Noto Sans SC"/>
              </a:rPr>
              <a:t>核心事实：W3 答题闭环 + W4 性格养成（双轴四型）、情感账户、主动关怀、纪念日、成长日记、TTS 联调，全部落地。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本周核心：从「会答题」到「懂感情」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两周是一条成长链，主线已打通。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nip Single Corner Rectangle 21"/>
          <p:cNvSpPr/>
          <p:nvPr/>
        </p:nvSpPr>
        <p:spPr>
          <a:xfrm>
            <a:off x="548640" y="1463040"/>
            <a:ext cx="4892040" cy="324612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146304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146304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312664" y="1463040"/>
            <a:ext cx="128015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40679" y="146304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" y="470916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" y="458114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312664" y="4709160"/>
            <a:ext cx="128015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40679" y="458114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48640" y="1463040"/>
            <a:ext cx="4892040" cy="4572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16459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spc="20">
                <a:solidFill>
                  <a:srgbClr val="F7F7F4"/>
                </a:solidFill>
                <a:latin typeface="Noto Serif SC"/>
                <a:ea typeface="Noto Serif SC"/>
              </a:rPr>
              <a:t>W3  会答题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240280"/>
            <a:ext cx="43891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quiz_node：出题/判题/连击/难度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决策引擎骨架（BT 四件套 + 入口）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16 接口 / 28 单测 / /dog/combo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B9196"/>
                </a:solidFill>
                <a:latin typeface="Noto Sans SC"/>
                <a:ea typeface="Noto Sans SC"/>
              </a:rPr>
              <a:t>定位：底层能力 + 留好插口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0" y="3063240"/>
            <a:ext cx="1188720" cy="0"/>
          </a:xfrm>
          <a:prstGeom prst="line">
            <a:avLst/>
          </a:prstGeom>
          <a:ln w="381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>
            <a:off x="6858000" y="2834640"/>
            <a:ext cx="384048" cy="457200"/>
          </a:xfrm>
          <a:prstGeom prst="triangle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nip Single Corner Rectangle 35"/>
          <p:cNvSpPr/>
          <p:nvPr/>
        </p:nvSpPr>
        <p:spPr>
          <a:xfrm>
            <a:off x="7269480" y="1463040"/>
            <a:ext cx="4343400" cy="324612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7269480" y="146304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69480" y="146304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484863" y="1463040"/>
            <a:ext cx="128017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12880" y="146304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69480" y="470916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69480" y="458114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1484863" y="4709160"/>
            <a:ext cx="128017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612880" y="458114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269480" y="1463040"/>
            <a:ext cx="4343400" cy="45720"/>
          </a:xfrm>
          <a:prstGeom prst="rect">
            <a:avLst/>
          </a:prstGeom>
          <a:solidFill>
            <a:srgbClr val="05A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1645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spc="20">
                <a:solidFill>
                  <a:srgbClr val="F7F7F4"/>
                </a:solidFill>
                <a:latin typeface="Noto Serif SC"/>
                <a:ea typeface="Noto Serif SC"/>
              </a:rPr>
              <a:t>W4  懂感情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2240280"/>
            <a:ext cx="3840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性格演化（双轴四型）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情感账户 + 主动关怀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早安晚安 + 纪念日 + 成长日记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· TTS 双端联调（会开口）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B9196"/>
                </a:solidFill>
                <a:latin typeface="Noto Sans SC"/>
                <a:ea typeface="Noto Sans SC"/>
              </a:rPr>
              <a:t>定位：情感连接层</a:t>
            </a:r>
          </a:p>
        </p:txBody>
      </p:sp>
      <p:sp>
        <p:nvSpPr>
          <p:cNvPr id="48" name="Snip Single Corner Rectangle 47"/>
          <p:cNvSpPr/>
          <p:nvPr/>
        </p:nvSpPr>
        <p:spPr>
          <a:xfrm>
            <a:off x="548640" y="4937760"/>
            <a:ext cx="11064240" cy="114300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047488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spc="80">
                <a:solidFill>
                  <a:srgbClr val="8B9196"/>
                </a:solidFill>
                <a:latin typeface="Noto Serif SC"/>
                <a:ea typeface="Noto Serif SC"/>
              </a:rPr>
              <a:t>MAINLINE  //  感知 → 成长 → 答题 → 情感 → 语音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3492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7F7F4"/>
                </a:solidFill>
                <a:latin typeface="Noto Sans SC"/>
                <a:ea typeface="Noto Sans SC"/>
              </a:rPr>
              <a:t>排期 9.18 前的软件主线已全部打通，剩 W5-W6 的火花计划与稳定性收尾。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W3 快速回顾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上周因故未汇报，这里一页带过——W3 是为 W4 留好插口的地基。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14630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566160"/>
              </a:tblGrid>
              <a:tr h="777240">
                <a:tc>
                  <a:txBody>
                    <a:bodyPr/>
                    <a:lstStyle/>
                    <a:p>
                      <a:r>
                        <a:rPr sz="1150" b="1" spc="60">
                          <a:solidFill>
                            <a:srgbClr val="FF5E19"/>
                          </a:solidFill>
                          <a:latin typeface="Noto Serif SC"/>
                          <a:ea typeface="Noto Serif SC"/>
                        </a:rPr>
                        <a:t>W3 交付</a:t>
                      </a:r>
                    </a:p>
                  </a:txBody>
                  <a:tcPr marL="91440" marR="54864" anchor="ctr">
                    <a:solidFill>
                      <a:srgbClr val="1719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spc="60">
                          <a:solidFill>
                            <a:srgbClr val="FF5E19"/>
                          </a:solidFill>
                          <a:latin typeface="Noto Serif SC"/>
                          <a:ea typeface="Noto Serif SC"/>
                        </a:rPr>
                        <a:t>要点</a:t>
                      </a:r>
                    </a:p>
                  </a:txBody>
                  <a:tcPr marL="91440" marR="54864" anchor="ctr">
                    <a:solidFill>
                      <a:srgbClr val="1719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spc="60">
                          <a:solidFill>
                            <a:srgbClr val="FF5E19"/>
                          </a:solidFill>
                          <a:latin typeface="Noto Serif SC"/>
                          <a:ea typeface="Noto Serif SC"/>
                        </a:rPr>
                        <a:t>给 W4 留了什么</a:t>
                      </a:r>
                    </a:p>
                  </a:txBody>
                  <a:tcPr marL="91440" marR="54864" anchor="ctr">
                    <a:solidFill>
                      <a:srgbClr val="17191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quiz_node 答题闭环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出题/判题/连击×5+50 ×10+100/难度降档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作答事件持续喂决策 → 性格「表达度」来源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决策引擎骨架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BT 四件套（core/conditions/actions/trees）+ 入口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W4 只填空：真实化空条件/动作，树不动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接口与单测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16 接口 / 28 单测 / /dog/combo 桥接 / LV.23 1300 经验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W4 零新增接口，直接叠加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</a:tr>
            </a:tbl>
          </a:graphicData>
        </a:graphic>
      </p:graphicFrame>
      <p:sp>
        <p:nvSpPr>
          <p:cNvPr id="23" name="Snip Single Corner Rectangle 22"/>
          <p:cNvSpPr/>
          <p:nvPr/>
        </p:nvSpPr>
        <p:spPr>
          <a:xfrm>
            <a:off x="548640" y="5029200"/>
            <a:ext cx="11064240" cy="10058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82296" cy="1005840"/>
          </a:xfrm>
          <a:prstGeom prst="rect">
            <a:avLst/>
          </a:prstGeom>
          <a:solidFill>
            <a:srgbClr val="05A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7F7F4"/>
                </a:solidFill>
                <a:latin typeface="Noto Sans SC"/>
                <a:ea typeface="Noto Sans SC"/>
              </a:rPr>
              <a:t>一句话：W3 的骨架是「留好插口」的骨架，W4 的性格/关怀/纪念日就是插上去的模块——同构演进，零返工。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W4成果① 性格演化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四种性格，是养出来的，不是设定的。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nip Single Corner Rectangle 21"/>
          <p:cNvSpPr/>
          <p:nvPr/>
        </p:nvSpPr>
        <p:spPr>
          <a:xfrm>
            <a:off x="548640" y="1600200"/>
            <a:ext cx="5440680" cy="406908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160020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160020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861304" y="160020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89320" y="160020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" y="566928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" y="554126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861304" y="566928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989320" y="554126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64408" y="1874519"/>
            <a:ext cx="0" cy="3520441"/>
          </a:xfrm>
          <a:prstGeom prst="line">
            <a:avLst/>
          </a:prstGeom>
          <a:ln w="12700">
            <a:solidFill>
              <a:srgbClr val="353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3611880"/>
            <a:ext cx="4709160" cy="0"/>
          </a:xfrm>
          <a:prstGeom prst="line">
            <a:avLst/>
          </a:prstGeom>
          <a:ln w="12700">
            <a:solidFill>
              <a:srgbClr val="353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nip Single Corner Rectangle 32"/>
          <p:cNvSpPr/>
          <p:nvPr/>
        </p:nvSpPr>
        <p:spPr>
          <a:xfrm>
            <a:off x="1097280" y="2011680"/>
            <a:ext cx="1975104" cy="1371600"/>
          </a:xfrm>
          <a:prstGeom prst="snip1Rect">
            <a:avLst/>
          </a:prstGeom>
          <a:solidFill>
            <a:srgbClr val="23272A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21214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spc="20">
                <a:solidFill>
                  <a:srgbClr val="05A7DC"/>
                </a:solidFill>
                <a:latin typeface="Noto Serif SC"/>
                <a:ea typeface="Noto Serif SC"/>
              </a:rPr>
              <a:t>安静型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25146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B9196"/>
                </a:solidFill>
                <a:latin typeface="Noto Sans SC"/>
                <a:ea typeface="Noto Sans SC"/>
              </a:rPr>
              <a:t>高依恋 · 低表达</a:t>
            </a:r>
          </a:p>
        </p:txBody>
      </p:sp>
      <p:sp>
        <p:nvSpPr>
          <p:cNvPr id="36" name="Snip Single Corner Rectangle 35"/>
          <p:cNvSpPr/>
          <p:nvPr/>
        </p:nvSpPr>
        <p:spPr>
          <a:xfrm>
            <a:off x="3456432" y="2011680"/>
            <a:ext cx="1975104" cy="1371600"/>
          </a:xfrm>
          <a:prstGeom prst="snip1Rect">
            <a:avLst/>
          </a:prstGeom>
          <a:solidFill>
            <a:srgbClr val="23272A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75303" y="21214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spc="20">
                <a:solidFill>
                  <a:srgbClr val="FF5E19"/>
                </a:solidFill>
                <a:latin typeface="Noto Serif SC"/>
                <a:ea typeface="Noto Serif SC"/>
              </a:rPr>
              <a:t>粘人型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5303" y="25146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B9196"/>
                </a:solidFill>
                <a:latin typeface="Noto Sans SC"/>
                <a:ea typeface="Noto Sans SC"/>
              </a:rPr>
              <a:t>高依恋 · 高表达</a:t>
            </a:r>
          </a:p>
        </p:txBody>
      </p:sp>
      <p:sp>
        <p:nvSpPr>
          <p:cNvPr id="39" name="Snip Single Corner Rectangle 38"/>
          <p:cNvSpPr/>
          <p:nvPr/>
        </p:nvSpPr>
        <p:spPr>
          <a:xfrm>
            <a:off x="1097280" y="3931920"/>
            <a:ext cx="1975104" cy="1371600"/>
          </a:xfrm>
          <a:prstGeom prst="snip1Rect">
            <a:avLst/>
          </a:prstGeom>
          <a:solidFill>
            <a:srgbClr val="23272A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16152" y="404164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spc="20">
                <a:solidFill>
                  <a:srgbClr val="9C9C9C"/>
                </a:solidFill>
                <a:latin typeface="Noto Serif SC"/>
                <a:ea typeface="Noto Serif SC"/>
              </a:rPr>
              <a:t>独立型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4348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B9196"/>
                </a:solidFill>
                <a:latin typeface="Noto Sans SC"/>
                <a:ea typeface="Noto Sans SC"/>
              </a:rPr>
              <a:t>低依恋 · 低表达</a:t>
            </a:r>
          </a:p>
        </p:txBody>
      </p:sp>
      <p:sp>
        <p:nvSpPr>
          <p:cNvPr id="42" name="Snip Single Corner Rectangle 41"/>
          <p:cNvSpPr/>
          <p:nvPr/>
        </p:nvSpPr>
        <p:spPr>
          <a:xfrm>
            <a:off x="3456432" y="3931920"/>
            <a:ext cx="1975104" cy="1371600"/>
          </a:xfrm>
          <a:prstGeom prst="snip1Rect">
            <a:avLst/>
          </a:prstGeom>
          <a:solidFill>
            <a:srgbClr val="23272A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75303" y="404164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spc="20">
                <a:solidFill>
                  <a:srgbClr val="46C47C"/>
                </a:solidFill>
                <a:latin typeface="Noto Serif SC"/>
                <a:ea typeface="Noto Serif SC"/>
              </a:rPr>
              <a:t>话痨型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5303" y="44348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B9196"/>
                </a:solidFill>
                <a:latin typeface="Noto Sans SC"/>
                <a:ea typeface="Noto Sans SC"/>
              </a:rPr>
              <a:t>低依恋 · 高表达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1664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60">
                <a:solidFill>
                  <a:srgbClr val="05A7DC"/>
                </a:solidFill>
                <a:latin typeface="Noto Sans SC"/>
                <a:ea typeface="Noto Sans SC"/>
              </a:rPr>
              <a:t>依恋度  高 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55321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60">
                <a:solidFill>
                  <a:srgbClr val="FF5E19"/>
                </a:solidFill>
                <a:latin typeface="Noto Sans SC"/>
                <a:ea typeface="Noto Sans SC"/>
              </a:rPr>
              <a:t>表达度  高 →</a:t>
            </a:r>
          </a:p>
        </p:txBody>
      </p:sp>
      <p:sp>
        <p:nvSpPr>
          <p:cNvPr id="47" name="Snip Single Corner Rectangle 46"/>
          <p:cNvSpPr/>
          <p:nvPr/>
        </p:nvSpPr>
        <p:spPr>
          <a:xfrm>
            <a:off x="6355080" y="1600200"/>
            <a:ext cx="5303520" cy="228600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1600200"/>
            <a:ext cx="5303520" cy="4572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783080"/>
            <a:ext cx="4892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7F7F4"/>
                </a:solidFill>
                <a:latin typeface="Noto Serif SC"/>
                <a:ea typeface="Noto Serif SC"/>
              </a:rPr>
              <a:t>机制 / 计数器 + 衰减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· 陪伴行为→依恋轴，说话行为→表达轴，命中该轴 +6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· 每次事件双轴自然衰减 -1；闲置一天 -3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· 轴分界 55：双高=粘人 / 高表达=话痨 / 高依恋=安静 / 双低=独立</a:t>
            </a:r>
          </a:p>
        </p:txBody>
      </p:sp>
      <p:sp>
        <p:nvSpPr>
          <p:cNvPr id="50" name="Snip Single Corner Rectangle 49"/>
          <p:cNvSpPr/>
          <p:nvPr/>
        </p:nvSpPr>
        <p:spPr>
          <a:xfrm>
            <a:off x="6355080" y="4114800"/>
            <a:ext cx="5303520" cy="155448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114800"/>
            <a:ext cx="82296" cy="155448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426110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7F7F4"/>
                </a:solidFill>
                <a:latin typeface="Noto Serif SC"/>
                <a:ea typeface="Noto Serif SC"/>
              </a:rPr>
              <a:t>demo 实测 / 独立 → 安静 → 粘人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摸头×4 变安静型，再呼唤+答题变粘人型；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5E19"/>
                </a:solidFill>
                <a:latin typeface="Noto Sans SC"/>
                <a:ea typeface="Noto Sans SC"/>
              </a:rPr>
              <a:t>变化时狗主动说「好像…我更黏主人啦，请多指教！」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W4成果② 情感账户 + 主动关怀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长期忽视会伤心；它会在你沉默时主动开口。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20">
                <a:solidFill>
                  <a:srgbClr val="F7F7F4"/>
                </a:solidFill>
                <a:latin typeface="Noto Serif SC"/>
                <a:ea typeface="Noto Serif SC"/>
              </a:rPr>
              <a:t>情感账户  0~100  /  投入越多回应越丰富</a:t>
            </a:r>
          </a:p>
        </p:txBody>
      </p:sp>
      <p:sp>
        <p:nvSpPr>
          <p:cNvPr id="23" name="Snip Single Corner Rectangle 22"/>
          <p:cNvSpPr/>
          <p:nvPr/>
        </p:nvSpPr>
        <p:spPr>
          <a:xfrm>
            <a:off x="640080" y="2011680"/>
            <a:ext cx="2011680" cy="457200"/>
          </a:xfrm>
          <a:prstGeom prst="snip1Rect">
            <a:avLst/>
          </a:prstGeom>
          <a:solidFill>
            <a:srgbClr val="E3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2075688"/>
            <a:ext cx="18653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60">
                <a:solidFill>
                  <a:srgbClr val="111315"/>
                </a:solidFill>
                <a:latin typeface="Noto Sans SC"/>
                <a:ea typeface="Noto Sans SC"/>
              </a:rPr>
              <a:t>0–30 冷淡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2697480" y="2011680"/>
            <a:ext cx="2011680" cy="457200"/>
          </a:xfrm>
          <a:prstGeom prst="snip1Rect">
            <a:avLst/>
          </a:prstGeom>
          <a:solidFill>
            <a:srgbClr val="05A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2075688"/>
            <a:ext cx="18653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60">
                <a:solidFill>
                  <a:srgbClr val="111315"/>
                </a:solidFill>
                <a:latin typeface="Noto Sans SC"/>
                <a:ea typeface="Noto Sans SC"/>
              </a:rPr>
              <a:t>30–70 平衡</a:t>
            </a:r>
          </a:p>
        </p:txBody>
      </p:sp>
      <p:sp>
        <p:nvSpPr>
          <p:cNvPr id="27" name="Snip Single Corner Rectangle 26"/>
          <p:cNvSpPr/>
          <p:nvPr/>
        </p:nvSpPr>
        <p:spPr>
          <a:xfrm>
            <a:off x="4754880" y="2011680"/>
            <a:ext cx="2011680" cy="457200"/>
          </a:xfrm>
          <a:prstGeom prst="snip1Rect">
            <a:avLst/>
          </a:prstGeom>
          <a:solidFill>
            <a:srgbClr val="46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2075688"/>
            <a:ext cx="18653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60">
                <a:solidFill>
                  <a:srgbClr val="111315"/>
                </a:solidFill>
                <a:latin typeface="Noto Sans SC"/>
                <a:ea typeface="Noto Sans SC"/>
              </a:rPr>
              <a:t>70–100 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651760"/>
            <a:ext cx="6126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· 正向互动 +2（摸头/握手/散步/答对…），封顶 100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· 闲置一天 -5；软化期（&lt;30）不再主动搭话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· 和好机制：回来多互动，账户回温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B9196"/>
                </a:solidFill>
                <a:latin typeface="Noto Sans SC"/>
                <a:ea typeface="Noto Sans SC"/>
              </a:rPr>
              <a:t>（demo：2 天冷落 64→54→20 冷淡，摸头×6 回 32）</a:t>
            </a:r>
          </a:p>
        </p:txBody>
      </p:sp>
      <p:sp>
        <p:nvSpPr>
          <p:cNvPr id="30" name="Snip Single Corner Rectangle 29"/>
          <p:cNvSpPr/>
          <p:nvPr/>
        </p:nvSpPr>
        <p:spPr>
          <a:xfrm>
            <a:off x="6720840" y="1371600"/>
            <a:ext cx="4892040" cy="50292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14356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20">
                <a:solidFill>
                  <a:srgbClr val="FF5E19"/>
                </a:solidFill>
                <a:latin typeface="Noto Serif SC"/>
                <a:ea typeface="Noto Serif SC"/>
              </a:rPr>
              <a:t>主动关怀  ·  长沉默 ≥2h 触发</a:t>
            </a:r>
          </a:p>
        </p:txBody>
      </p:sp>
      <p:sp>
        <p:nvSpPr>
          <p:cNvPr id="32" name="Snip Single Corner Rectangle 31"/>
          <p:cNvSpPr/>
          <p:nvPr/>
        </p:nvSpPr>
        <p:spPr>
          <a:xfrm>
            <a:off x="6720840" y="2011680"/>
            <a:ext cx="4892040" cy="210312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176272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· 平衡：「主人好久没理我了…有点想你」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· 依赖：「你去哪啦，我等你好久啦！」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· 深夜 23-6：「夜深了，早点休息哦」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B9196"/>
                </a:solidFill>
                <a:latin typeface="Noto Sans SC"/>
                <a:ea typeface="Noto Sans SC"/>
              </a:rPr>
              <a:t>· 冷淡期：沉默（设计行为，非缺陷）</a:t>
            </a:r>
          </a:p>
        </p:txBody>
      </p:sp>
      <p:sp>
        <p:nvSpPr>
          <p:cNvPr id="34" name="Snip Single Corner Rectangle 33"/>
          <p:cNvSpPr/>
          <p:nvPr/>
        </p:nvSpPr>
        <p:spPr>
          <a:xfrm>
            <a:off x="548640" y="4434840"/>
            <a:ext cx="11064240" cy="160020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434840"/>
            <a:ext cx="82296" cy="160020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6177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7F7F4"/>
                </a:solidFill>
                <a:latin typeface="Noto Serif SC"/>
                <a:ea typeface="Noto Serif SC"/>
              </a:rPr>
              <a:t>demo 实测  /  冷落 → 和好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B9BEC3"/>
                </a:solidFill>
                <a:latin typeface="Noto Sans SC"/>
                <a:ea typeface="Noto Sans SC"/>
              </a:rPr>
              <a:t>2 天不互动账户下滑进冷淡区（不再主动）→ 回来摸头×6 → 回到平衡。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8B9196"/>
                </a:solidFill>
                <a:latin typeface="Noto Sans SC"/>
                <a:ea typeface="Noto Sans SC"/>
              </a:rPr>
              <a:t>全程数值可复现、可单测（19 项 W4 单测覆盖）。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W4成果③ 陪伴仪式 + 成长日记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它记得该说早安，也记得你们的日子。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nip Single Corner Rectangle 21"/>
          <p:cNvSpPr/>
          <p:nvPr/>
        </p:nvSpPr>
        <p:spPr>
          <a:xfrm>
            <a:off x="548640" y="1417320"/>
            <a:ext cx="2057400" cy="54864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 spc="60">
                <a:solidFill>
                  <a:srgbClr val="FF5E19"/>
                </a:solidFill>
                <a:latin typeface="Noto Serif SC"/>
                <a:ea typeface="Noto Serif SC"/>
              </a:rPr>
              <a:t>早安 / 晚安</a:t>
            </a:r>
          </a:p>
        </p:txBody>
      </p:sp>
      <p:sp>
        <p:nvSpPr>
          <p:cNvPr id="23" name="Snip Single Corner Rectangle 22"/>
          <p:cNvSpPr/>
          <p:nvPr/>
        </p:nvSpPr>
        <p:spPr>
          <a:xfrm>
            <a:off x="2743200" y="1417320"/>
            <a:ext cx="8869680" cy="5486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1472184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6-9 点 / 21-23 点窗口，每天一次不重复；按当前性格说不同的话（亮点）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548640" y="2112264"/>
            <a:ext cx="2057400" cy="54864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 spc="60">
                <a:solidFill>
                  <a:srgbClr val="FF5E19"/>
                </a:solidFill>
                <a:latin typeface="Noto Serif SC"/>
                <a:ea typeface="Noto Serif SC"/>
              </a:rPr>
              <a:t>等级里程碑</a:t>
            </a:r>
          </a:p>
        </p:txBody>
      </p:sp>
      <p:sp>
        <p:nvSpPr>
          <p:cNvPr id="26" name="Snip Single Corner Rectangle 25"/>
          <p:cNvSpPr/>
          <p:nvPr/>
        </p:nvSpPr>
        <p:spPr>
          <a:xfrm>
            <a:off x="2743200" y="2112264"/>
            <a:ext cx="8869680" cy="5486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21671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LV.10/20/…/100 升级即庆祝：「我升到 LV.10 啦！撒花庆祝！」</a:t>
            </a:r>
          </a:p>
        </p:txBody>
      </p:sp>
      <p:sp>
        <p:nvSpPr>
          <p:cNvPr id="28" name="Snip Single Corner Rectangle 27"/>
          <p:cNvSpPr/>
          <p:nvPr/>
        </p:nvSpPr>
        <p:spPr>
          <a:xfrm>
            <a:off x="548640" y="2807208"/>
            <a:ext cx="2057400" cy="54864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 spc="60">
                <a:solidFill>
                  <a:srgbClr val="FF5E19"/>
                </a:solidFill>
                <a:latin typeface="Noto Serif SC"/>
                <a:ea typeface="Noto Serif SC"/>
              </a:rPr>
              <a:t>自定义纪念日</a:t>
            </a:r>
          </a:p>
        </p:txBody>
      </p:sp>
      <p:sp>
        <p:nvSpPr>
          <p:cNvPr id="29" name="Snip Single Corner Rectangle 28"/>
          <p:cNvSpPr/>
          <p:nvPr/>
        </p:nvSpPr>
        <p:spPr>
          <a:xfrm>
            <a:off x="2743200" y="2807208"/>
            <a:ext cx="8869680" cy="5486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2862072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主人可登记（如「认识主人满月」），当天主动提起，每日一次</a:t>
            </a:r>
          </a:p>
        </p:txBody>
      </p:sp>
      <p:sp>
        <p:nvSpPr>
          <p:cNvPr id="31" name="Snip Single Corner Rectangle 30"/>
          <p:cNvSpPr/>
          <p:nvPr/>
        </p:nvSpPr>
        <p:spPr>
          <a:xfrm>
            <a:off x="548640" y="3502152"/>
            <a:ext cx="2057400" cy="54864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 spc="60">
                <a:solidFill>
                  <a:srgbClr val="FF5E19"/>
                </a:solidFill>
                <a:latin typeface="Noto Serif SC"/>
                <a:ea typeface="Noto Serif SC"/>
              </a:rPr>
              <a:t>成长日记</a:t>
            </a:r>
          </a:p>
        </p:txBody>
      </p:sp>
      <p:sp>
        <p:nvSpPr>
          <p:cNvPr id="32" name="Snip Single Corner Rectangle 31"/>
          <p:cNvSpPr/>
          <p:nvPr/>
        </p:nvSpPr>
        <p:spPr>
          <a:xfrm>
            <a:off x="2743200" y="3502152"/>
            <a:ext cx="8869680" cy="5486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557016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F7F7F4"/>
                </a:solidFill>
                <a:latin typeface="Noto Sans SC"/>
                <a:ea typeface="Noto Sans SC"/>
              </a:rPr>
              <a:t>按天统计互动 → 第一人称日记 → diary 表落库（一天一条，跨日自动写）</a:t>
            </a:r>
          </a:p>
        </p:txBody>
      </p:sp>
      <p:sp>
        <p:nvSpPr>
          <p:cNvPr id="34" name="Snip Single Corner Rectangle 33"/>
          <p:cNvSpPr/>
          <p:nvPr/>
        </p:nvSpPr>
        <p:spPr>
          <a:xfrm>
            <a:off x="548640" y="4434840"/>
            <a:ext cx="5394960" cy="173736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05A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434840"/>
            <a:ext cx="5394960" cy="45720"/>
          </a:xfrm>
          <a:prstGeom prst="rect">
            <a:avLst/>
          </a:prstGeom>
          <a:solidFill>
            <a:srgbClr val="05A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90288"/>
            <a:ext cx="4983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7F7F4"/>
                </a:solidFill>
                <a:latin typeface="Noto Serif SC"/>
                <a:ea typeface="Noto Serif SC"/>
              </a:rPr>
              <a:t>同一句早安，四种性格四种说法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B9BEC3"/>
                </a:solidFill>
                <a:latin typeface="Noto Sans SC"/>
                <a:ea typeface="Noto Sans SC"/>
              </a:rPr>
              <a:t>粘人：「主人早上好呀！等你好久啦！」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B9BEC3"/>
                </a:solidFill>
                <a:latin typeface="Noto Sans SC"/>
                <a:ea typeface="Noto Sans SC"/>
              </a:rPr>
              <a:t>独立：「早啊主人，我去晒会儿太阳。」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196"/>
                </a:solidFill>
                <a:latin typeface="Noto Sans SC"/>
                <a:ea typeface="Noto Sans SC"/>
              </a:rPr>
              <a:t>→ 「独特性格塑造」落到每一句上</a:t>
            </a:r>
          </a:p>
        </p:txBody>
      </p:sp>
      <p:sp>
        <p:nvSpPr>
          <p:cNvPr id="37" name="Snip Single Corner Rectangle 36"/>
          <p:cNvSpPr/>
          <p:nvPr/>
        </p:nvSpPr>
        <p:spPr>
          <a:xfrm>
            <a:off x="6263640" y="4434840"/>
            <a:ext cx="5394960" cy="173736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590288"/>
            <a:ext cx="4983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7F7F4"/>
                </a:solidFill>
                <a:latin typeface="Noto Serif SC"/>
                <a:ea typeface="Noto Serif SC"/>
              </a:rPr>
              <a:t>日记示例  /  demo 自动生成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B9BEC3"/>
                </a:solidFill>
                <a:latin typeface="Noto Sans SC"/>
                <a:ea typeface="Noto Sans SC"/>
              </a:rPr>
              <a:t>「2025-08-28。今天我 LV.10，心情平静，是粘人型的小狗。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B9BEC3"/>
                </a:solidFill>
                <a:latin typeface="Noto Sans SC"/>
                <a:ea typeface="Noto Sans SC"/>
              </a:rPr>
              <a:t>主人叫了我 1 次…迎来了升级里程碑 1 次。」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196"/>
                </a:solidFill>
                <a:latin typeface="Noto Sans SC"/>
                <a:ea typeface="Noto Sans SC"/>
              </a:rPr>
              <a:t>→ 就是前端日记页要展示的数据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W4成果④ 双端联调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决策出来的，真的说出口了。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nip Single Corner Rectangle 21"/>
          <p:cNvSpPr/>
          <p:nvPr/>
        </p:nvSpPr>
        <p:spPr>
          <a:xfrm>
            <a:off x="548640" y="1965960"/>
            <a:ext cx="2286000" cy="137160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05A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112264"/>
            <a:ext cx="206654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感知 / 答题 /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主动检查</a:t>
            </a:r>
          </a:p>
        </p:txBody>
      </p:sp>
      <p:sp>
        <p:nvSpPr>
          <p:cNvPr id="24" name="Snip Single Corner Rectangle 23"/>
          <p:cNvSpPr/>
          <p:nvPr/>
        </p:nvSpPr>
        <p:spPr>
          <a:xfrm>
            <a:off x="3200400" y="1965960"/>
            <a:ext cx="2286000" cy="137160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46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2112264"/>
            <a:ext cx="206654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决策引擎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（狗侧）反应</a:t>
            </a:r>
          </a:p>
        </p:txBody>
      </p:sp>
      <p:sp>
        <p:nvSpPr>
          <p:cNvPr id="26" name="Snip Single Corner Rectangle 25"/>
          <p:cNvSpPr/>
          <p:nvPr/>
        </p:nvSpPr>
        <p:spPr>
          <a:xfrm>
            <a:off x="5852160" y="1965960"/>
            <a:ext cx="2286000" cy="137160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1888" y="2112264"/>
            <a:ext cx="206654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背包 TTS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/tts_speak</a:t>
            </a:r>
          </a:p>
        </p:txBody>
      </p:sp>
      <p:sp>
        <p:nvSpPr>
          <p:cNvPr id="28" name="Snip Single Corner Rectangle 27"/>
          <p:cNvSpPr/>
          <p:nvPr/>
        </p:nvSpPr>
        <p:spPr>
          <a:xfrm>
            <a:off x="8503920" y="1965960"/>
            <a:ext cx="2286000" cy="137160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FFD8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2112264"/>
            <a:ext cx="206654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语音播报 🔊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34640" y="2651760"/>
            <a:ext cx="36576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0" y="2651760"/>
            <a:ext cx="36576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38160" y="2651760"/>
            <a:ext cx="36576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nip Single Corner Rectangle 32"/>
          <p:cNvSpPr/>
          <p:nvPr/>
        </p:nvSpPr>
        <p:spPr>
          <a:xfrm>
            <a:off x="5852160" y="4069079"/>
            <a:ext cx="2286000" cy="91440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05A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1888" y="4178808"/>
            <a:ext cx="20665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7F7F4"/>
                </a:solidFill>
                <a:latin typeface="Noto Sans SC"/>
                <a:ea typeface="Noto Sans SC"/>
              </a:rPr>
              <a:t>/dog/action
动作执行 + 加点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51960" y="3337560"/>
            <a:ext cx="1600200" cy="1188719"/>
          </a:xfrm>
          <a:prstGeom prst="line">
            <a:avLst/>
          </a:prstGeom>
          <a:ln w="22225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nip Single Corner Rectangle 35"/>
          <p:cNvSpPr/>
          <p:nvPr/>
        </p:nvSpPr>
        <p:spPr>
          <a:xfrm>
            <a:off x="8503920" y="4069080"/>
            <a:ext cx="3108960" cy="201168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03920" y="4069080"/>
            <a:ext cx="3108960" cy="4572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215384"/>
            <a:ext cx="27889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7F7F4"/>
                </a:solidFill>
                <a:latin typeface="Noto Serif SC"/>
                <a:ea typeface="Noto Serif SC"/>
              </a:rPr>
              <a:t>W3 只留客户端：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B9196"/>
                </a:solidFill>
                <a:latin typeface="Noto Sans SC"/>
                <a:ea typeface="Noto Sans SC"/>
              </a:rPr>
              <a:t>「TTS 未就绪记日志」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F5E19"/>
                </a:solidFill>
                <a:latin typeface="Noto Serif SC"/>
                <a:ea typeface="Noto Serif SC"/>
              </a:rPr>
              <a:t>W4 补服务端即通：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9BEC3"/>
                </a:solidFill>
                <a:latin typeface="Noto Sans SC"/>
                <a:ea typeface="Noto Sans SC"/>
              </a:rPr>
              <a:t>接口 0 新增，demo 模式打印 🔊 播报</a:t>
            </a:r>
          </a:p>
        </p:txBody>
      </p:sp>
      <p:sp>
        <p:nvSpPr>
          <p:cNvPr id="39" name="Snip Single Corner Rectangle 38"/>
          <p:cNvSpPr/>
          <p:nvPr/>
        </p:nvSpPr>
        <p:spPr>
          <a:xfrm>
            <a:off x="548640" y="5577840"/>
            <a:ext cx="7680960" cy="86868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联调口径：goal(text/rate/pitch) → feedback(progress) → result(success/duration)；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B9196"/>
                </a:solidFill>
                <a:latin typeface="Noto Sans SC"/>
                <a:ea typeface="Noto Sans SC"/>
              </a:rPr>
              <a:t>仿真时长=字数×0.08s，接真实 TTS 只换内部实现，两端不变。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质量验证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两周成果，本地全绿；剩下 Ubuntu 跑一遍。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nip Single Corner Rectangle 21"/>
          <p:cNvSpPr/>
          <p:nvPr/>
        </p:nvSpPr>
        <p:spPr>
          <a:xfrm>
            <a:off x="548640" y="1463040"/>
            <a:ext cx="2606040" cy="658368"/>
          </a:xfrm>
          <a:prstGeom prst="snip1Rect">
            <a:avLst/>
          </a:prstGeom>
          <a:solidFill>
            <a:srgbClr val="46C47C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536192"/>
            <a:ext cx="24231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spc="30">
                <a:solidFill>
                  <a:srgbClr val="111315"/>
                </a:solidFill>
                <a:latin typeface="Noto Sans SC"/>
                <a:ea typeface="Noto Sans SC"/>
              </a:rPr>
              <a:t>单测 47/47</a:t>
            </a:r>
          </a:p>
        </p:txBody>
      </p:sp>
      <p:sp>
        <p:nvSpPr>
          <p:cNvPr id="24" name="Snip Single Corner Rectangle 23"/>
          <p:cNvSpPr/>
          <p:nvPr/>
        </p:nvSpPr>
        <p:spPr>
          <a:xfrm>
            <a:off x="548640" y="2212848"/>
            <a:ext cx="2606040" cy="19202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340864"/>
            <a:ext cx="236829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B9BEC3"/>
                </a:solidFill>
                <a:latin typeface="Noto Sans SC"/>
                <a:ea typeface="Noto Sans SC"/>
              </a:rPr>
              <a:t>W2 8 + W3 20 + W4 19
纯逻辑无 ROS 可复跑</a:t>
            </a:r>
          </a:p>
        </p:txBody>
      </p:sp>
      <p:sp>
        <p:nvSpPr>
          <p:cNvPr id="26" name="Snip Single Corner Rectangle 25"/>
          <p:cNvSpPr/>
          <p:nvPr/>
        </p:nvSpPr>
        <p:spPr>
          <a:xfrm>
            <a:off x="3429000" y="1463040"/>
            <a:ext cx="2606040" cy="658368"/>
          </a:xfrm>
          <a:prstGeom prst="snip1Rect">
            <a:avLst/>
          </a:prstGeom>
          <a:solidFill>
            <a:srgbClr val="05A7DC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1536192"/>
            <a:ext cx="24231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spc="30">
                <a:solidFill>
                  <a:srgbClr val="111315"/>
                </a:solidFill>
                <a:latin typeface="Noto Sans SC"/>
                <a:ea typeface="Noto Sans SC"/>
              </a:rPr>
              <a:t>接口 16 项</a:t>
            </a:r>
          </a:p>
        </p:txBody>
      </p:sp>
      <p:sp>
        <p:nvSpPr>
          <p:cNvPr id="28" name="Snip Single Corner Rectangle 27"/>
          <p:cNvSpPr/>
          <p:nvPr/>
        </p:nvSpPr>
        <p:spPr>
          <a:xfrm>
            <a:off x="3429000" y="2212848"/>
            <a:ext cx="2606040" cy="19202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2340864"/>
            <a:ext cx="236829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B9BEC3"/>
                </a:solidFill>
                <a:latin typeface="Noto Sans SC"/>
                <a:ea typeface="Noto Sans SC"/>
              </a:rPr>
              <a:t>W4 零新增——全复用 W1
行为长在旧接口上</a:t>
            </a:r>
          </a:p>
        </p:txBody>
      </p:sp>
      <p:sp>
        <p:nvSpPr>
          <p:cNvPr id="30" name="Snip Single Corner Rectangle 29"/>
          <p:cNvSpPr/>
          <p:nvPr/>
        </p:nvSpPr>
        <p:spPr>
          <a:xfrm>
            <a:off x="6309360" y="1463040"/>
            <a:ext cx="2606040" cy="658368"/>
          </a:xfrm>
          <a:prstGeom prst="snip1Rect">
            <a:avLst/>
          </a:prstGeom>
          <a:solidFill>
            <a:srgbClr val="FFD802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536192"/>
            <a:ext cx="24231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spc="30">
                <a:solidFill>
                  <a:srgbClr val="111315"/>
                </a:solidFill>
                <a:latin typeface="Noto Sans SC"/>
                <a:ea typeface="Noto Sans SC"/>
              </a:rPr>
              <a:t>编译检查</a:t>
            </a:r>
          </a:p>
        </p:txBody>
      </p:sp>
      <p:sp>
        <p:nvSpPr>
          <p:cNvPr id="32" name="Snip Single Corner Rectangle 31"/>
          <p:cNvSpPr/>
          <p:nvPr/>
        </p:nvSpPr>
        <p:spPr>
          <a:xfrm>
            <a:off x="6309360" y="2212848"/>
            <a:ext cx="2606040" cy="19202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340864"/>
            <a:ext cx="236829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B9BEC3"/>
                </a:solidFill>
                <a:latin typeface="Noto Sans SC"/>
                <a:ea typeface="Noto Sans SC"/>
              </a:rPr>
              <a:t>10 个 Python 文件
py_compile 全过</a:t>
            </a:r>
          </a:p>
        </p:txBody>
      </p:sp>
      <p:sp>
        <p:nvSpPr>
          <p:cNvPr id="34" name="Snip Single Corner Rectangle 33"/>
          <p:cNvSpPr/>
          <p:nvPr/>
        </p:nvSpPr>
        <p:spPr>
          <a:xfrm>
            <a:off x="9189720" y="1463040"/>
            <a:ext cx="2606040" cy="658368"/>
          </a:xfrm>
          <a:prstGeom prst="snip1Rect">
            <a:avLst/>
          </a:prstGeom>
          <a:solidFill>
            <a:srgbClr val="FF5E19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1536192"/>
            <a:ext cx="24231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spc="30">
                <a:solidFill>
                  <a:srgbClr val="111315"/>
                </a:solidFill>
                <a:latin typeface="Noto Sans SC"/>
                <a:ea typeface="Noto Sans SC"/>
              </a:rPr>
              <a:t>演示可复现</a:t>
            </a:r>
          </a:p>
        </p:txBody>
      </p:sp>
      <p:sp>
        <p:nvSpPr>
          <p:cNvPr id="36" name="Snip Single Corner Rectangle 35"/>
          <p:cNvSpPr/>
          <p:nvPr/>
        </p:nvSpPr>
        <p:spPr>
          <a:xfrm>
            <a:off x="9189720" y="2212848"/>
            <a:ext cx="2606040" cy="192024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2340864"/>
            <a:ext cx="236829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B9BEC3"/>
                </a:solidFill>
                <a:latin typeface="Noto Sans SC"/>
                <a:ea typeface="Noto Sans SC"/>
              </a:rPr>
              <a:t>standalone_demo_w4.py
--fast 一条时间轴</a:t>
            </a:r>
          </a:p>
        </p:txBody>
      </p:sp>
      <p:sp>
        <p:nvSpPr>
          <p:cNvPr id="38" name="Snip Single Corner Rectangle 37"/>
          <p:cNvSpPr/>
          <p:nvPr/>
        </p:nvSpPr>
        <p:spPr>
          <a:xfrm>
            <a:off x="548640" y="4434840"/>
            <a:ext cx="11064240" cy="91440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434840"/>
            <a:ext cx="82296" cy="914400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55371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7F7F4"/>
                </a:solidFill>
                <a:latin typeface="Noto Sans SC"/>
                <a:ea typeface="Noto Sans SC"/>
              </a:rPr>
              <a:t>W4 demo 终态：LV.10 ｜ 粘人型（独立→安静→粘人完整演化）｜ 情感账户 20→32（和好实测）｜ 日记已落库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8B9196"/>
                </a:solidFill>
                <a:latin typeface="Noto Sans SC"/>
                <a:ea typeface="Noto Sans SC"/>
              </a:rPr>
              <a:t>W3 demo 终态：LV.23 / 1300 经验 / 连击 ×5 +50、×10 +100，照旧可复现。</a:t>
            </a:r>
          </a:p>
        </p:txBody>
      </p:sp>
      <p:sp>
        <p:nvSpPr>
          <p:cNvPr id="41" name="Snip Single Corner Rectangle 40"/>
          <p:cNvSpPr/>
          <p:nvPr/>
        </p:nvSpPr>
        <p:spPr>
          <a:xfrm>
            <a:off x="548640" y="5532120"/>
            <a:ext cx="11064240" cy="731520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E3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532120"/>
            <a:ext cx="82296" cy="731520"/>
          </a:xfrm>
          <a:prstGeom prst="rect">
            <a:avLst/>
          </a:prstGeom>
          <a:solidFill>
            <a:srgbClr val="E3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650992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Noto Sans SC"/>
                <a:ea typeface="Noto Sans SC"/>
              </a:rPr>
              <a:t>⏳ 待验证：Ubuntu 侧编译 / TTS 联调 / start_demo 全流程 / 双机联调——两周无新增接口，风险低。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小组成员进展与分工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EC3"/>
                </a:solidFill>
                <a:latin typeface="Noto Sans SC"/>
                <a:ea typeface="Noto Sans SC"/>
              </a:rPr>
              <a:t>本周成员在做什么（牛浩然 / 黄鑫禹）。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nip Single Corner Rectangle 21"/>
          <p:cNvSpPr/>
          <p:nvPr/>
        </p:nvSpPr>
        <p:spPr>
          <a:xfrm>
            <a:off x="548640" y="1417320"/>
            <a:ext cx="5394960" cy="448056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1417320"/>
            <a:ext cx="128016" cy="0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1417320"/>
            <a:ext cx="0" cy="128016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815584" y="1417320"/>
            <a:ext cx="128016" cy="0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3600" y="1417320"/>
            <a:ext cx="0" cy="128016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" y="5897880"/>
            <a:ext cx="128016" cy="0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" y="5769864"/>
            <a:ext cx="0" cy="128016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815584" y="5897880"/>
            <a:ext cx="128016" cy="0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943600" y="5769864"/>
            <a:ext cx="0" cy="128016"/>
          </a:xfrm>
          <a:prstGeom prst="line">
            <a:avLst/>
          </a:prstGeom>
          <a:ln w="13970">
            <a:solidFill>
              <a:srgbClr val="05A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nip Single Corner Rectangle 30"/>
          <p:cNvSpPr/>
          <p:nvPr/>
        </p:nvSpPr>
        <p:spPr>
          <a:xfrm>
            <a:off x="548640" y="1417320"/>
            <a:ext cx="5394960" cy="566928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1481328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spc="20">
                <a:solidFill>
                  <a:srgbClr val="F7F7F4"/>
                </a:solidFill>
                <a:latin typeface="Noto Serif SC"/>
                <a:ea typeface="Noto Serif SC"/>
              </a:rPr>
              <a:t>牛浩然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1517904"/>
            <a:ext cx="24688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40">
                <a:solidFill>
                  <a:srgbClr val="05A7DC"/>
                </a:solidFill>
                <a:latin typeface="Noto Serif SC"/>
                <a:ea typeface="Noto Serif SC"/>
              </a:rPr>
              <a:t>前端 / 后端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21488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W3 已：答题页 + 题库/判题 API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W4 本周（排期）：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· 日记 API → 前端日记页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· 周报 API（按周汇总互动/答题/日记）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· 心情时间序列 API + 心情曲线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数据：diary 表已落库、daily_stats() 现成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验收：能展示「某天日记 + 心情曲线」</a:t>
            </a:r>
          </a:p>
        </p:txBody>
      </p:sp>
      <p:sp>
        <p:nvSpPr>
          <p:cNvPr id="35" name="Snip Single Corner Rectangle 34"/>
          <p:cNvSpPr/>
          <p:nvPr/>
        </p:nvSpPr>
        <p:spPr>
          <a:xfrm>
            <a:off x="6263640" y="1417320"/>
            <a:ext cx="5394960" cy="4480560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263640" y="1417320"/>
            <a:ext cx="128015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63640" y="141732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1530584" y="141732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58600" y="1417320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63640" y="5897880"/>
            <a:ext cx="128015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263640" y="576986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1530584" y="5897880"/>
            <a:ext cx="128016" cy="0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658600" y="5769864"/>
            <a:ext cx="0" cy="128016"/>
          </a:xfrm>
          <a:prstGeom prst="line">
            <a:avLst/>
          </a:prstGeom>
          <a:ln w="1397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nip Single Corner Rectangle 43"/>
          <p:cNvSpPr/>
          <p:nvPr/>
        </p:nvSpPr>
        <p:spPr>
          <a:xfrm>
            <a:off x="6263640" y="1417320"/>
            <a:ext cx="5394960" cy="566928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26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1481328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spc="20">
                <a:solidFill>
                  <a:srgbClr val="F7F7F4"/>
                </a:solidFill>
                <a:latin typeface="Noto Serif SC"/>
                <a:ea typeface="Noto Serif SC"/>
              </a:rPr>
              <a:t>黄鑫禹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1517904"/>
            <a:ext cx="24688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40">
                <a:solidFill>
                  <a:srgbClr val="FF5E19"/>
                </a:solidFill>
                <a:latin typeface="Noto Serif SC"/>
                <a:ea typeface="Noto Serif SC"/>
              </a:rPr>
              <a:t>创意 / 测试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1488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W3 已：语音问答链路 + 5 场景 + 连击验证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W4 本周（排期）：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· 角色串联演示：表情→决策→动作→TTS 走查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· 手感实测：抚摸/冷落/和好/仪式的节奏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· 调参建议：性格轴增益/账户速率/关怀阈值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素材：性格化话术 + TTS 仿真播报 + 一键启动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9BEC3"/>
                </a:solidFill>
                <a:latin typeface="Noto Sans SC"/>
                <a:ea typeface="Noto Sans SC"/>
              </a:rPr>
              <a:t>· 验收：串联无卡点 + 一份调参建议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196"/>
                </a:solidFill>
                <a:latin typeface="Noto Sans SC"/>
                <a:ea typeface="Noto Sans SC"/>
              </a:rPr>
              <a:t>协作方式不变：任务清单已单独成文（docs/任务清单_W4_*.md），含依赖、验收标准、现在就能做的第一步。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A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675120"/>
            <a:ext cx="12191695" cy="0"/>
          </a:xfrm>
          <a:prstGeom prst="line">
            <a:avLst/>
          </a:prstGeom>
          <a:ln w="1905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32688"/>
            <a:ext cx="12191695" cy="0"/>
          </a:xfrm>
          <a:prstGeom prst="line">
            <a:avLst/>
          </a:prstGeom>
          <a:ln w="9525">
            <a:solidFill>
              <a:srgbClr val="262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nip Single Corner Rectangle 16"/>
          <p:cNvSpPr/>
          <p:nvPr/>
        </p:nvSpPr>
        <p:spPr>
          <a:xfrm>
            <a:off x="502920" y="219456"/>
            <a:ext cx="603504" cy="493776"/>
          </a:xfrm>
          <a:prstGeom prst="snip1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500" b="1" spc="60">
                <a:solidFill>
                  <a:srgbClr val="181818"/>
                </a:solidFill>
                <a:latin typeface="Noto Serif SC"/>
                <a:ea typeface="Noto Serif SC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645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spc="20">
                <a:solidFill>
                  <a:srgbClr val="F7F7F4"/>
                </a:solidFill>
                <a:latin typeface="Noto Serif SC"/>
                <a:ea typeface="Noto Serif SC"/>
              </a:rPr>
              <a:t>风险、下一步（W5）与需要的支持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260">
                <a:solidFill>
                  <a:srgbClr val="8B9196"/>
                </a:solidFill>
                <a:latin typeface="Consolas"/>
                <a:ea typeface="Consolas"/>
              </a:rPr>
              <a:t>MOOPET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" y="1133856"/>
            <a:ext cx="914400" cy="0"/>
          </a:xfrm>
          <a:prstGeom prst="line">
            <a:avLst/>
          </a:prstGeom>
          <a:ln w="25400">
            <a:solidFill>
              <a:srgbClr val="FF5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417320"/>
          <a:ext cx="110642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566160"/>
                <a:gridCol w="4389120"/>
              </a:tblGrid>
              <a:tr h="521208">
                <a:tc>
                  <a:txBody>
                    <a:bodyPr/>
                    <a:lstStyle/>
                    <a:p>
                      <a:r>
                        <a:rPr sz="1150" b="1" spc="60">
                          <a:solidFill>
                            <a:srgbClr val="FF5E19"/>
                          </a:solidFill>
                          <a:latin typeface="Noto Serif SC"/>
                          <a:ea typeface="Noto Serif SC"/>
                        </a:rPr>
                        <a:t>风险 / 待办</a:t>
                      </a:r>
                    </a:p>
                  </a:txBody>
                  <a:tcPr marL="91440" marR="54864" anchor="ctr">
                    <a:solidFill>
                      <a:srgbClr val="1719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spc="60">
                          <a:solidFill>
                            <a:srgbClr val="FF5E19"/>
                          </a:solidFill>
                          <a:latin typeface="Noto Serif SC"/>
                          <a:ea typeface="Noto Serif SC"/>
                        </a:rPr>
                        <a:t>影响</a:t>
                      </a:r>
                    </a:p>
                  </a:txBody>
                  <a:tcPr marL="91440" marR="54864" anchor="ctr">
                    <a:solidFill>
                      <a:srgbClr val="1719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spc="60">
                          <a:solidFill>
                            <a:srgbClr val="FF5E19"/>
                          </a:solidFill>
                          <a:latin typeface="Noto Serif SC"/>
                          <a:ea typeface="Noto Serif SC"/>
                        </a:rPr>
                        <a:t>应对</a:t>
                      </a:r>
                    </a:p>
                  </a:txBody>
                  <a:tcPr marL="91440" marR="54864" anchor="ctr">
                    <a:solidFill>
                      <a:srgbClr val="17191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Ubuntu 侧编译/联调未完成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两周成果未在 ROS 环境回归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首要待办；无新增接口，一次编译即可验证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性格/情感参数为初版经验值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节奏、话术恐与理想有偏差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黄鑫禹手感实测 → 调参建议 → 迭代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TTS 为仿真实现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音色/语速非最终效果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接口已定，后续替换 edge-tts 不动两端</a:t>
                      </a:r>
                    </a:p>
                  </a:txBody>
                  <a:tcPr marL="91440" marR="54864" anchor="ctr">
                    <a:solidFill>
                      <a:srgbClr val="1D2023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7F4"/>
                          </a:solidFill>
                          <a:latin typeface="Noto Serif SC"/>
                          <a:ea typeface="Noto Serif SC"/>
                        </a:rPr>
                        <a:t>前端日记页依赖联调窗口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9BEC3"/>
                          </a:solidFill>
                          <a:latin typeface="Noto Sans SC"/>
                          <a:ea typeface="Noto Sans SC"/>
                        </a:rPr>
                        <a:t>日记页演示或顺延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spc="60">
                          <a:solidFill>
                            <a:srgbClr val="46C47C"/>
                          </a:solidFill>
                          <a:latin typeface="Consolas"/>
                          <a:ea typeface="Consolas"/>
                        </a:rPr>
                        <a:t>表与统计已就绪，一次接口对齐即可开工</a:t>
                      </a:r>
                    </a:p>
                  </a:txBody>
                  <a:tcPr marL="91440" marR="54864" anchor="ctr">
                    <a:solidFill>
                      <a:srgbClr val="23272A"/>
                    </a:solidFill>
                  </a:tcPr>
                </a:tc>
              </a:tr>
            </a:tbl>
          </a:graphicData>
        </a:graphic>
      </p:graphicFrame>
      <p:sp>
        <p:nvSpPr>
          <p:cNvPr id="22" name="Snip Single Corner Rectangle 21"/>
          <p:cNvSpPr/>
          <p:nvPr/>
        </p:nvSpPr>
        <p:spPr>
          <a:xfrm>
            <a:off x="548640" y="4206240"/>
            <a:ext cx="5394960" cy="1874519"/>
          </a:xfrm>
          <a:prstGeom prst="snip1Rect">
            <a:avLst/>
          </a:prstGeom>
          <a:solidFill>
            <a:srgbClr val="1D2023"/>
          </a:solidFill>
          <a:ln w="12700">
            <a:solidFill>
              <a:srgbClr val="35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5394960" cy="45720"/>
          </a:xfrm>
          <a:prstGeom prst="rect">
            <a:avLst/>
          </a:prstGeom>
          <a:solidFill>
            <a:srgbClr val="05A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70832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7F7F4"/>
                </a:solidFill>
                <a:latin typeface="Noto Serif SC"/>
                <a:ea typeface="Noto Serif SC"/>
              </a:rPr>
              <a:t>W5 计划  /  对齐排期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① 火花计划：每日任务/打卡/奖励接入决策与结算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196"/>
                </a:solidFill>
                <a:latin typeface="Noto Sans SC"/>
                <a:ea typeface="Noto Sans SC"/>
              </a:rPr>
              <a:t>  （streak/daily_task/daily_reward 表 W1 已预置）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② 综合：两端功能联演 + 演示脚本定稿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6263640" y="4206240"/>
            <a:ext cx="5394960" cy="1874519"/>
          </a:xfrm>
          <a:prstGeom prst="snip1Rect">
            <a:avLst/>
          </a:prstGeom>
          <a:solidFill>
            <a:srgbClr val="17191B"/>
          </a:solidFill>
          <a:ln w="12700">
            <a:solidFill>
              <a:srgbClr val="FF5E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206240"/>
            <a:ext cx="82296" cy="1874519"/>
          </a:xfrm>
          <a:prstGeom prst="rect">
            <a:avLst/>
          </a:prstGeom>
          <a:solidFill>
            <a:srgbClr val="FF5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70832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7F7F4"/>
                </a:solidFill>
                <a:latin typeface="Noto Serif SC"/>
                <a:ea typeface="Noto Serif SC"/>
              </a:rPr>
              <a:t>需要的支持  /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① Ubuntu + ROS2 环境完成编译/联调验证（两周共性待办）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② 与牛浩然/黄鑫禹各 30min 对齐接口与联调排期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B9BEC3"/>
                </a:solidFill>
                <a:latin typeface="Noto Sans SC"/>
                <a:ea typeface="Noto Sans SC"/>
              </a:rPr>
              <a:t>③ 如需实体机演示窗口，请提前协调（W6-W7 计划内）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46520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spc="120">
                <a:solidFill>
                  <a:srgbClr val="8B9196"/>
                </a:solidFill>
                <a:latin typeface="Consolas"/>
                <a:ea typeface="Consola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